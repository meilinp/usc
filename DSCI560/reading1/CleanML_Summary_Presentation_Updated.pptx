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5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10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CleanML: A Study for Evaluating the Impact of Data Cleaning on ML Classification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Meilin Pan 7688376148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cleaning is crucial for improving the performance of ML models. The Clean</a:t>
            </a:r>
            <a:r>
              <a:rPr lang="en-US" dirty="0"/>
              <a:t> </a:t>
            </a:r>
            <a:r>
              <a:rPr dirty="0"/>
              <a:t>ML study investigates how different data cleaning methods impact various ML classification tasks. It involves 14 datasets, multiple error types, ML models, and cleaning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CleanML</a:t>
            </a:r>
            <a:r>
              <a:rPr dirty="0"/>
              <a:t> study includes:</a:t>
            </a:r>
          </a:p>
          <a:p>
            <a:r>
              <a:rPr dirty="0"/>
              <a:t>- 14 real-world datasets with different error types.</a:t>
            </a:r>
          </a:p>
          <a:p>
            <a:r>
              <a:rPr dirty="0"/>
              <a:t>- 5 common error types: outliers, duplicates, inconsistencies, mislabels, missing values.</a:t>
            </a:r>
          </a:p>
          <a:p>
            <a:r>
              <a:rPr dirty="0"/>
              <a:t>- 7 ML models: Logistic Regression, Decision Tree, Random Forest, etc.</a:t>
            </a:r>
          </a:p>
          <a:p>
            <a:r>
              <a:rPr dirty="0"/>
              <a:t>- Multiple cleaning algorithms including both simple and advanced methods like </a:t>
            </a:r>
            <a:r>
              <a:rPr dirty="0" err="1"/>
              <a:t>HoloClean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Cleaning missing values and mislabels generally improves ML model performance.</a:t>
            </a:r>
          </a:p>
          <a:p>
            <a:r>
              <a:rPr dirty="0"/>
              <a:t>2. Cleaning outliers and inconsistencies has mixed impacts, often insignificant.</a:t>
            </a:r>
          </a:p>
          <a:p>
            <a:r>
              <a:rPr dirty="0"/>
              <a:t>3. Duplicate cleaning can have negative effects due to potential loss of valuable data.</a:t>
            </a:r>
          </a:p>
          <a:p>
            <a:r>
              <a:rPr dirty="0"/>
              <a:t>4. Simple imputation methods can be as effective as advanced methods like </a:t>
            </a:r>
            <a:r>
              <a:rPr dirty="0" err="1"/>
              <a:t>HoloClean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Comparison with Robust ML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CleanML vs. Robust ML:</a:t>
            </a:r>
          </a:p>
          <a:p>
            <a:r>
              <a:t>- Data cleaning can be more effective than robust ML models in certain scenarios.</a:t>
            </a:r>
          </a:p>
          <a:p>
            <a:r>
              <a:t>- Cleaning is more flexible as it can be applied to any error type and model.</a:t>
            </a:r>
          </a:p>
          <a:p>
            <a:r>
              <a:t>- Robust ML models are often specific to particular error types or data distributions.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CleanML study opens several future research directions:</a:t>
            </a:r>
          </a:p>
          <a:p>
            <a:r>
              <a:t>- Expand to more datasets and various ML tasks (e.g., regression, clustering).</a:t>
            </a:r>
          </a:p>
          <a:p>
            <a:r>
              <a:t>- Develop new cleaning algorithms optimized for specific types of errors.</a:t>
            </a:r>
          </a:p>
          <a:p>
            <a:r>
              <a:t>- Deeper exploration of human cleaning methods compared to automated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CBBDD-2FDC-268A-A43A-1D0FEF31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Quiz Question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F4452-1211-4202-9B50-E6B5B771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What is the impact of cleaning outliers on ML models as found in the Clean ML study?</a:t>
            </a:r>
          </a:p>
          <a:p>
            <a:r>
              <a:rPr kumimoji="1" lang="en" altLang="zh-CN" dirty="0"/>
              <a:t>Answer: Cleaning outliers generally has an insignificant impact on ML models, though the effect varies depending on the dataset and the cleaning algorithm used.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3350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79BFD-0912-4A38-3E31-A73706B75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214"/>
          </a:xfrm>
        </p:spPr>
        <p:txBody>
          <a:bodyPr>
            <a:normAutofit fontScale="90000"/>
          </a:bodyPr>
          <a:lstStyle/>
          <a:p>
            <a:r>
              <a:rPr lang="en" altLang="zh-CN" dirty="0" err="1"/>
              <a:t>CleanML</a:t>
            </a:r>
            <a:r>
              <a:rPr lang="en" altLang="zh-CN" dirty="0"/>
              <a:t> Study Workflow Diagram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814267-4229-D69F-A8A3-A5F32611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92999D-9B1D-1913-783B-3BD8E20A3A81}"/>
              </a:ext>
            </a:extLst>
          </p:cNvPr>
          <p:cNvSpPr/>
          <p:nvPr/>
        </p:nvSpPr>
        <p:spPr>
          <a:xfrm>
            <a:off x="159488" y="1073889"/>
            <a:ext cx="8676167" cy="14780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 Preparation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B6B011-2EF4-CE4C-8012-516989362811}"/>
              </a:ext>
            </a:extLst>
          </p:cNvPr>
          <p:cNvSpPr/>
          <p:nvPr/>
        </p:nvSpPr>
        <p:spPr>
          <a:xfrm>
            <a:off x="159488" y="2682252"/>
            <a:ext cx="8676166" cy="14780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Model Training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6C56AC-7FF2-9F26-40D4-B5C2A87E7DE8}"/>
              </a:ext>
            </a:extLst>
          </p:cNvPr>
          <p:cNvSpPr/>
          <p:nvPr/>
        </p:nvSpPr>
        <p:spPr>
          <a:xfrm>
            <a:off x="159488" y="4261113"/>
            <a:ext cx="8676166" cy="14780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Evaluation</a:t>
            </a:r>
            <a:endParaRPr kumimoji="1"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FC54F0-8ADF-7B61-642C-AD39364367AD}"/>
              </a:ext>
            </a:extLst>
          </p:cNvPr>
          <p:cNvSpPr/>
          <p:nvPr/>
        </p:nvSpPr>
        <p:spPr>
          <a:xfrm>
            <a:off x="159489" y="1066139"/>
            <a:ext cx="1483242" cy="151534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Missing Values: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Mean/Median Imputation, KNN Imputation</a:t>
            </a:r>
            <a:endParaRPr kumimoji="1" lang="zh-CN" altLang="en-US" sz="11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C10CA21-5F07-829D-412E-1C3AFAFE72E6}"/>
              </a:ext>
            </a:extLst>
          </p:cNvPr>
          <p:cNvSpPr/>
          <p:nvPr/>
        </p:nvSpPr>
        <p:spPr>
          <a:xfrm>
            <a:off x="1212111" y="1046712"/>
            <a:ext cx="1437168" cy="147809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Outliers: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IQR, Z-score, Isolation Forest</a:t>
            </a:r>
            <a:endParaRPr kumimoji="1" lang="zh-CN" altLang="en-US" sz="11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C1B6040-54EF-CF0A-3FB1-9CB8AD6E11B6}"/>
              </a:ext>
            </a:extLst>
          </p:cNvPr>
          <p:cNvSpPr/>
          <p:nvPr/>
        </p:nvSpPr>
        <p:spPr>
          <a:xfrm>
            <a:off x="2316126" y="1073889"/>
            <a:ext cx="1437168" cy="145091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Duplicates: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Collision, Record Linkage</a:t>
            </a:r>
            <a:endParaRPr kumimoji="1" lang="zh-CN" altLang="en-US" sz="1100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2812059-1C10-C143-3296-A02DFDE9FED7}"/>
              </a:ext>
            </a:extLst>
          </p:cNvPr>
          <p:cNvSpPr/>
          <p:nvPr/>
        </p:nvSpPr>
        <p:spPr>
          <a:xfrm>
            <a:off x="5252482" y="1114121"/>
            <a:ext cx="1575394" cy="141068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Inconsistencies: </a:t>
            </a:r>
            <a:r>
              <a:rPr lang="en" altLang="zh-CN" sz="11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OpenRefine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Consistency Rules</a:t>
            </a:r>
            <a:endParaRPr kumimoji="1" lang="zh-CN" altLang="en-US" sz="11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57033F9-6AC8-BEEA-312E-24AB4EC7F13E}"/>
              </a:ext>
            </a:extLst>
          </p:cNvPr>
          <p:cNvSpPr/>
          <p:nvPr/>
        </p:nvSpPr>
        <p:spPr>
          <a:xfrm>
            <a:off x="6943060" y="1073888"/>
            <a:ext cx="1437168" cy="153585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Mislabels: </a:t>
            </a:r>
            <a:r>
              <a:rPr lang="en" altLang="zh-CN" sz="1100" dirty="0" err="1"/>
              <a:t>cleanlab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Anomaly Detection</a:t>
            </a:r>
            <a:endParaRPr kumimoji="1" lang="zh-CN" altLang="en-US" sz="11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EB54DF2-00BA-BB02-B970-49C66111FF59}"/>
              </a:ext>
            </a:extLst>
          </p:cNvPr>
          <p:cNvSpPr/>
          <p:nvPr/>
        </p:nvSpPr>
        <p:spPr>
          <a:xfrm>
            <a:off x="244548" y="2755843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Logistic Regression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9BD12DE-0637-9EBB-E8C3-47BEF6EB4DBC}"/>
              </a:ext>
            </a:extLst>
          </p:cNvPr>
          <p:cNvSpPr/>
          <p:nvPr/>
        </p:nvSpPr>
        <p:spPr>
          <a:xfrm>
            <a:off x="653903" y="3494140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Naïve Bayes</a:t>
            </a:r>
            <a:endParaRPr kumimoji="1" lang="zh-CN" altLang="en-US" sz="11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8A85BE1-67D9-787A-33B4-44C65316CB06}"/>
              </a:ext>
            </a:extLst>
          </p:cNvPr>
          <p:cNvSpPr/>
          <p:nvPr/>
        </p:nvSpPr>
        <p:spPr>
          <a:xfrm>
            <a:off x="7354186" y="2757992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K-Nearest Neighbors</a:t>
            </a:r>
            <a:endParaRPr kumimoji="1" lang="zh-CN" altLang="en-US" sz="11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B97CB90-7A30-2856-8761-EDE8D37247D5}"/>
              </a:ext>
            </a:extLst>
          </p:cNvPr>
          <p:cNvSpPr/>
          <p:nvPr/>
        </p:nvSpPr>
        <p:spPr>
          <a:xfrm>
            <a:off x="6337007" y="2781243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XG Boost</a:t>
            </a:r>
            <a:endParaRPr kumimoji="1" lang="zh-CN" altLang="en-US" sz="11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5A52818-ED5F-1062-BBC6-8297528D9101}"/>
              </a:ext>
            </a:extLst>
          </p:cNvPr>
          <p:cNvSpPr/>
          <p:nvPr/>
        </p:nvSpPr>
        <p:spPr>
          <a:xfrm>
            <a:off x="5344634" y="2783020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AdaBoost</a:t>
            </a:r>
            <a:endParaRPr kumimoji="1" lang="zh-CN" altLang="en-US" sz="1100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51F096F-A318-3B66-BC7E-DE5277F509C5}"/>
              </a:ext>
            </a:extLst>
          </p:cNvPr>
          <p:cNvSpPr/>
          <p:nvPr/>
        </p:nvSpPr>
        <p:spPr>
          <a:xfrm>
            <a:off x="2509284" y="2783020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Random Forest</a:t>
            </a:r>
            <a:endParaRPr kumimoji="1" lang="zh-CN" altLang="en-US" sz="11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C737413-06E3-AB77-CCDD-5514D65702F7}"/>
              </a:ext>
            </a:extLst>
          </p:cNvPr>
          <p:cNvSpPr/>
          <p:nvPr/>
        </p:nvSpPr>
        <p:spPr>
          <a:xfrm>
            <a:off x="1357423" y="2766614"/>
            <a:ext cx="988828" cy="70921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Decision Tree</a:t>
            </a:r>
            <a:endParaRPr kumimoji="1" lang="zh-CN" altLang="en-US" sz="11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ACA9CE5-1989-CDE4-F0A1-2948ADBF47B4}"/>
              </a:ext>
            </a:extLst>
          </p:cNvPr>
          <p:cNvSpPr/>
          <p:nvPr/>
        </p:nvSpPr>
        <p:spPr>
          <a:xfrm>
            <a:off x="76201" y="4317298"/>
            <a:ext cx="1369827" cy="142190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Statistical Hypothesis Testing: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Paired t-test, p-value Analysis</a:t>
            </a:r>
            <a:endParaRPr kumimoji="1" lang="zh-CN" altLang="en-US" sz="11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27FC51B-D772-F729-BAAD-DDC26CF5A5FC}"/>
              </a:ext>
            </a:extLst>
          </p:cNvPr>
          <p:cNvSpPr/>
          <p:nvPr/>
        </p:nvSpPr>
        <p:spPr>
          <a:xfrm>
            <a:off x="7074196" y="4397001"/>
            <a:ext cx="1736650" cy="120631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Results Analysis: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Impact of Cleaning Methods</a:t>
            </a:r>
            <a:endParaRPr kumimoji="1" lang="zh-CN" altLang="en-US" sz="1100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D7D6905-0E1F-54DC-29AF-9FE630622EE0}"/>
              </a:ext>
            </a:extLst>
          </p:cNvPr>
          <p:cNvSpPr/>
          <p:nvPr/>
        </p:nvSpPr>
        <p:spPr>
          <a:xfrm>
            <a:off x="5491716" y="4273948"/>
            <a:ext cx="1476154" cy="139129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Performance Metrics: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Accuracy, Precision, Recall, F1-score</a:t>
            </a:r>
            <a:endParaRPr kumimoji="1" lang="zh-CN" altLang="en-US" sz="1100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8BC3304-1382-ADD9-A8AC-6B70D3460C64}"/>
              </a:ext>
            </a:extLst>
          </p:cNvPr>
          <p:cNvSpPr/>
          <p:nvPr/>
        </p:nvSpPr>
        <p:spPr>
          <a:xfrm>
            <a:off x="1357423" y="4347917"/>
            <a:ext cx="1369827" cy="139129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False Discovery Rate Control: </a:t>
            </a:r>
            <a:r>
              <a:rPr lang="en" altLang="zh-CN" sz="11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Benjamini-Yekutieli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Procedure</a:t>
            </a:r>
            <a:endParaRPr kumimoji="1" lang="zh-CN" altLang="en-US" sz="1100" dirty="0"/>
          </a:p>
        </p:txBody>
      </p:sp>
      <p:sp>
        <p:nvSpPr>
          <p:cNvPr id="30" name="下箭头 29">
            <a:extLst>
              <a:ext uri="{FF2B5EF4-FFF2-40B4-BE49-F238E27FC236}">
                <a16:creationId xmlns:a16="http://schemas.microsoft.com/office/drawing/2014/main" id="{A93CF37D-D210-3362-647A-52572D564F8D}"/>
              </a:ext>
            </a:extLst>
          </p:cNvPr>
          <p:cNvSpPr/>
          <p:nvPr/>
        </p:nvSpPr>
        <p:spPr>
          <a:xfrm>
            <a:off x="4348716" y="2126512"/>
            <a:ext cx="308344" cy="92503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下箭头 30">
            <a:extLst>
              <a:ext uri="{FF2B5EF4-FFF2-40B4-BE49-F238E27FC236}">
                <a16:creationId xmlns:a16="http://schemas.microsoft.com/office/drawing/2014/main" id="{5C46EBD0-F126-F795-A0CB-B46661D9AC29}"/>
              </a:ext>
            </a:extLst>
          </p:cNvPr>
          <p:cNvSpPr/>
          <p:nvPr/>
        </p:nvSpPr>
        <p:spPr>
          <a:xfrm>
            <a:off x="4274288" y="3811432"/>
            <a:ext cx="308344" cy="92503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13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435</Words>
  <Application>Microsoft Macintosh PowerPoint</Application>
  <PresentationFormat>全屏显示(4:3)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-webkit-standard</vt:lpstr>
      <vt:lpstr>Arial</vt:lpstr>
      <vt:lpstr>Calibri</vt:lpstr>
      <vt:lpstr>Office Theme</vt:lpstr>
      <vt:lpstr>CleanML: A Study for Evaluating the Impact of Data Cleaning on ML Classification Tasks</vt:lpstr>
      <vt:lpstr>Introduction</vt:lpstr>
      <vt:lpstr>Scope and Methodology</vt:lpstr>
      <vt:lpstr>Key Findings</vt:lpstr>
      <vt:lpstr>Comparison with Robust ML Approaches</vt:lpstr>
      <vt:lpstr>Future Research Directions</vt:lpstr>
      <vt:lpstr>Quiz Question</vt:lpstr>
      <vt:lpstr>CleanML Study Workflow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Meilin Pan</cp:lastModifiedBy>
  <cp:revision>2</cp:revision>
  <dcterms:created xsi:type="dcterms:W3CDTF">2013-01-27T09:14:16Z</dcterms:created>
  <dcterms:modified xsi:type="dcterms:W3CDTF">2024-09-03T21:40:54Z</dcterms:modified>
  <cp:category/>
</cp:coreProperties>
</file>